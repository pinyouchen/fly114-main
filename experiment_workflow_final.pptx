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實驗設計流程 (Experimental Workflow)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371600" cy="4572000"/>
          </a:xfrm>
          <a:prstGeom prst="rect">
            <a:avLst/>
          </a:prstGeom>
          <a:solidFill>
            <a:srgbClr val="5959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資料來源</a:t>
            </a:r>
          </a:p>
          <a:p>
            <a:r>
              <a:t>(Data Source)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05840" cy="914400"/>
          </a:xfrm>
          <a:prstGeom prst="rect">
            <a:avLst/>
          </a:prstGeom>
          <a:solidFill>
            <a:srgbClr val="7F7F7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2</a:t>
            </a:r>
          </a:p>
          <a:p>
            <a:r>
              <a:t>(Training)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1005840" cy="914400"/>
          </a:xfrm>
          <a:prstGeom prst="rect">
            <a:avLst/>
          </a:prstGeom>
          <a:solidFill>
            <a:srgbClr val="7F7F7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1</a:t>
            </a:r>
          </a:p>
          <a:p>
            <a:r>
              <a:t>(Testing)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2286000" cy="91440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Baseline 模型</a:t>
            </a:r>
          </a:p>
          <a:p>
            <a:r>
              <a:t>(Standard HRV)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505050"/>
                </a:solidFill>
              </a:defRPr>
            </a:pPr>
            <a:r>
              <a:t>特徵: SDNN, LF, HF...</a:t>
            </a:r>
            <a:br/>
            <a:r>
              <a:t>基本資料: Age, Sex, BMI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286000" cy="914400"/>
          </a:xfrm>
          <a:prstGeom prst="roundRect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外部驗證</a:t>
            </a:r>
          </a:p>
          <a:p>
            <a:r>
              <a:t>(External Val.)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505050"/>
                </a:solidFill>
              </a:defRPr>
            </a:pPr>
            <a:r>
              <a:t>測試集: Data 1</a:t>
            </a:r>
            <a:br/>
            <a:r>
              <a:t>指標: Specificity, NPV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926080"/>
            <a:ext cx="2286000" cy="91440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比較分析</a:t>
            </a:r>
          </a:p>
          <a:p>
            <a:r>
              <a:t>(Scale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505050"/>
                </a:solidFill>
              </a:defRPr>
            </a:pPr>
            <a:r>
              <a:t>特徵: phq15, bdi...</a:t>
            </a:r>
            <a:br/>
            <a:r>
              <a:t>(無外部驗證)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480560"/>
            <a:ext cx="2286000" cy="91440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附加分析</a:t>
            </a:r>
          </a:p>
          <a:p>
            <a:r>
              <a:t>(Extended HRV)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505050"/>
                </a:solidFill>
              </a:defRPr>
            </a:pPr>
            <a:r>
              <a:t>特徵: All HRV + Scale</a:t>
            </a:r>
            <a:br/>
            <a:r>
              <a:t>(子群組分析)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480560"/>
            <a:ext cx="2286000" cy="91440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綜合模型</a:t>
            </a:r>
          </a:p>
          <a:p>
            <a:r>
              <a:t>(Full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505050"/>
                </a:solidFill>
              </a:defRPr>
            </a:pPr>
            <a:r>
              <a:t>訓練: Data1 + Data2</a:t>
            </a:r>
            <a:br/>
            <a:r>
              <a:t>特徵: 臨床 + 自律神經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65760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291840" cy="4572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綜合評估 (Evaluation)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績效指標 (Metrics):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Accuracy, F1, AUC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Specificity, NPV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模型解釋性 (XAI):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Random Forest Importance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SHAP / Permutation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目標 (Goal):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驗證 HRV 特徵有效性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• 比較生理 vs 心理指標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645920" y="1828800"/>
            <a:ext cx="640080" cy="91440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45920" y="2743200"/>
            <a:ext cx="640080" cy="6400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45920" y="2743200"/>
            <a:ext cx="640080" cy="21945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45920" y="1828800"/>
            <a:ext cx="3383280" cy="274320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45920" y="4572000"/>
            <a:ext cx="3383280" cy="3657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1828800"/>
            <a:ext cx="45720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0" y="1828800"/>
            <a:ext cx="731520" cy="91440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572000" y="2743200"/>
            <a:ext cx="3474720" cy="6400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72000" y="2743200"/>
            <a:ext cx="3474720" cy="21945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15200" y="2743200"/>
            <a:ext cx="731520" cy="21945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